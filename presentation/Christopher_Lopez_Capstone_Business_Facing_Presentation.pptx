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111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0327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/stephanmatzka/predictive-maintenance-dataset-ai4i-2020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754880" cy="4754880"/>
          </a:xfrm>
          <a:prstGeom prst="ellipse">
            <a:avLst/>
          </a:prstGeom>
          <a:solidFill>
            <a:srgbClr val="2C3B44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-1463040" y="4937760"/>
            <a:ext cx="3840480" cy="3840480"/>
          </a:xfrm>
          <a:prstGeom prst="ellipse">
            <a:avLst/>
          </a:prstGeom>
          <a:solidFill>
            <a:srgbClr val="2C3B44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035101"/>
            <a:ext cx="764438" cy="764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BUSINESS CASE REVIEW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F7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 Through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F7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Behavior Clustering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A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everyday sensor data into an early-warning system for industrial equipment — so maintenance teams act before machines fail.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5396905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Christopher Lopez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A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for the AIM Postgraduate Diploma in AI and Machine Learning – June 2026 – July 2026</a:t>
            </a:r>
          </a:p>
          <a:p>
            <a:r>
              <a:rPr lang="en-US" sz="1200" dirty="0">
                <a:solidFill>
                  <a:srgbClr val="AFC2C7"/>
                </a:solidFill>
                <a:latin typeface="Calibri" pitchFamily="34" charset="0"/>
              </a:rPr>
              <a:t>Project files: </a:t>
            </a:r>
            <a:r>
              <a:rPr lang="en-US" sz="1200" b="1" dirty="0">
                <a:solidFill>
                  <a:srgbClr val="F4A11B"/>
                </a:solidFill>
                <a:latin typeface="Calibri" pitchFamily="34" charset="0"/>
              </a:rPr>
              <a:t>github.com/</a:t>
            </a:r>
            <a:r>
              <a:rPr lang="en-US" sz="1200" b="1" dirty="0" err="1">
                <a:solidFill>
                  <a:srgbClr val="F4A11B"/>
                </a:solidFill>
                <a:latin typeface="Calibri" pitchFamily="34" charset="0"/>
              </a:rPr>
              <a:t>apaelijo</a:t>
            </a:r>
            <a:r>
              <a:rPr lang="en-US" sz="1200" b="1" dirty="0">
                <a:solidFill>
                  <a:srgbClr val="F4A11B"/>
                </a:solidFill>
                <a:latin typeface="Calibri" pitchFamily="34" charset="0"/>
              </a:rPr>
              <a:t>/predictive-maintenance-clustering</a:t>
            </a:r>
            <a:endParaRPr lang="en-US" sz="1200" dirty="0"/>
          </a:p>
          <a:p>
            <a:pPr marL="0" indent="0">
              <a:buNone/>
            </a:pPr>
            <a:r>
              <a:rPr lang="en-US" sz="1150" dirty="0">
                <a:solidFill>
                  <a:srgbClr val="A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6870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36204"/>
            <a:ext cx="500360" cy="500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6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Challenge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6309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equipment failures halt production, delay orders, and drive up emergency repair costs.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maintenance is reactive, teams fix machines after something breaks, rather than catching warning signs early.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preventive-maintenance schedules waste money: parts get replaced too early, or fail before their scheduled check.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machine behaves a little differently depending on load, product type, and wear — making “abnormal” hard to spot by eye.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554480"/>
            <a:ext cx="4343400" cy="461772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7269480" y="192024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687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3.4%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7635240" y="28803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machine-hours in the data involve an actual failure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635240" y="3657600"/>
            <a:ext cx="3611880" cy="0"/>
          </a:xfrm>
          <a:prstGeom prst="line">
            <a:avLst/>
          </a:prstGeom>
          <a:noFill/>
          <a:ln w="12700">
            <a:solidFill>
              <a:srgbClr val="E2E6E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7635240" y="3840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rarity is exactly the problem: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35240" y="420624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needles in a haystack of normal operation — which is why we need AI to learn the normal patterns first.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36204"/>
            <a:ext cx="500360" cy="500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Behind the Model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operating records from milling machines — modeled on real industrial process data (AI4I 2020 dataset).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complete: no missing values, ready to analyze.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three product quality tiers — Low, Medium, High — each with different wear characteristics.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Rare-event data: only ~3.4% of records are tied to a failure, just like a real, well-run plant.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6364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Everyday Signals We Track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011680"/>
            <a:ext cx="457200" cy="457200"/>
          </a:xfrm>
          <a:prstGeom prst="ellipse">
            <a:avLst/>
          </a:prstGeom>
          <a:solidFill>
            <a:srgbClr val="E3F2F1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1214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984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Temperature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90372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hot the environment is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63640" y="2724912"/>
            <a:ext cx="457200" cy="457200"/>
          </a:xfrm>
          <a:prstGeom prst="ellipse">
            <a:avLst/>
          </a:prstGeom>
          <a:solidFill>
            <a:srgbClr val="E3F2F1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83464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Temperature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903720" y="2953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hot the machine runs inside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63640" y="3438144"/>
            <a:ext cx="457200" cy="457200"/>
          </a:xfrm>
          <a:prstGeom prst="ellipse">
            <a:avLst/>
          </a:prstGeom>
          <a:solidFill>
            <a:srgbClr val="E3F2F1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354787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903720" y="36667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the motor spins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63640" y="4151376"/>
            <a:ext cx="457200" cy="457200"/>
          </a:xfrm>
          <a:prstGeom prst="ellipse">
            <a:avLst/>
          </a:prstGeom>
          <a:solidFill>
            <a:srgbClr val="E3F2F1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26110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03720" y="4123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903720" y="4379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load the machine carries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263640" y="4864608"/>
            <a:ext cx="457200" cy="457200"/>
          </a:xfrm>
          <a:prstGeom prst="ellipse">
            <a:avLst/>
          </a:prstGeom>
          <a:solidFill>
            <a:srgbClr val="E3F2F1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4974336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8371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903720" y="5093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tool has been in use</a:t>
            </a:r>
            <a:endParaRPr lang="en-US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AA4AA2-BA88-C1FD-A4CA-E9E512FF65BF}"/>
              </a:ext>
            </a:extLst>
          </p:cNvPr>
          <p:cNvSpPr txBox="1"/>
          <p:nvPr/>
        </p:nvSpPr>
        <p:spPr>
          <a:xfrm>
            <a:off x="323088" y="6388084"/>
            <a:ext cx="10590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Source:</a:t>
            </a:r>
            <a:r>
              <a:rPr lang="en-US" sz="1400" dirty="0"/>
              <a:t> </a:t>
            </a:r>
            <a:r>
              <a:rPr lang="en-US" sz="1400" dirty="0">
                <a:hlinkClick r:id="rId8"/>
              </a:rPr>
              <a:t>https://www.kaggle.com/datasets/stephanmatzka/predictive-maintenance-dataset-ai4i-2020</a:t>
            </a:r>
            <a:r>
              <a:rPr lang="en-US" sz="1400" dirty="0"/>
              <a:t> </a:t>
            </a:r>
            <a:endParaRPr lang="en-PH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36204"/>
            <a:ext cx="500360" cy="500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Told Us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machines cluster in a similar “normal” zone — failures don't stand out as an obviously separate group.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(mechanical load) is the clearest dividing line between operating states: higher load consistently means higher stress.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 tier alone does not explain machine behavior — it's a contributing factor, not the root cause.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behavior clustering surfaces genuinely useful operating patterns, but must be paired with other tools to catch every rare failure.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A2BB6F-A9B6-553D-4F9C-BA539C768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989" y="3936535"/>
            <a:ext cx="10056398" cy="280920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C3B44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36204"/>
            <a:ext cx="500360" cy="500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C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 Machines by Behavior, Automatically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unsupervised clustering — the AI groups machines by how they behave, without being told in advance what a “failure” looks like.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clustering techniques were built and compared side-by-side (K-Means, DBSCAN, and Hierarchical clustering).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clearest, most interpretable result came from DBSCAN, organizing machines into 3 operating states or clusters.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sorting machines into buckets based on how they're behaving right now — not their age, brand, or paperwork.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040880" y="2103120"/>
            <a:ext cx="1310640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Shape 6"/>
          <p:cNvSpPr/>
          <p:nvPr/>
        </p:nvSpPr>
        <p:spPr>
          <a:xfrm>
            <a:off x="7376160" y="2423160"/>
            <a:ext cx="640080" cy="640080"/>
          </a:xfrm>
          <a:prstGeom prst="ellipse">
            <a:avLst/>
          </a:prstGeom>
          <a:solidFill>
            <a:srgbClr val="2C3B44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970" y="2499970"/>
            <a:ext cx="486461" cy="4864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3246120"/>
            <a:ext cx="131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351520" y="33375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8671560" y="2103120"/>
            <a:ext cx="1310640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" name="Shape 10"/>
          <p:cNvSpPr/>
          <p:nvPr/>
        </p:nvSpPr>
        <p:spPr>
          <a:xfrm>
            <a:off x="9006840" y="2423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650" y="2499970"/>
            <a:ext cx="486461" cy="4864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71560" y="3246120"/>
            <a:ext cx="131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982200" y="33375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10302240" y="2103120"/>
            <a:ext cx="1310640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9" name="Shape 14"/>
          <p:cNvSpPr/>
          <p:nvPr/>
        </p:nvSpPr>
        <p:spPr>
          <a:xfrm>
            <a:off x="10637520" y="2423160"/>
            <a:ext cx="640080" cy="640080"/>
          </a:xfrm>
          <a:prstGeom prst="ellipse">
            <a:avLst/>
          </a:prstGeom>
          <a:solidFill>
            <a:srgbClr val="D6870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4330" y="2499970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302240" y="3246120"/>
            <a:ext cx="131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Behavior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040880" y="5486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evaluated using standard clustering quality scores (separation and cohesion) — K-Means (4 groups) gave the most business-usable result.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36204"/>
            <a:ext cx="500360" cy="500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Machine Behavior Profiles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08207" y="1600200"/>
            <a:ext cx="2697480" cy="44805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8" name="Shape 5"/>
          <p:cNvSpPr/>
          <p:nvPr/>
        </p:nvSpPr>
        <p:spPr>
          <a:xfrm>
            <a:off x="2891187" y="1920240"/>
            <a:ext cx="731520" cy="731520"/>
          </a:xfrm>
          <a:prstGeom prst="ellipse">
            <a:avLst/>
          </a:prstGeom>
          <a:solidFill>
            <a:srgbClr val="3D8361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69" y="2008022"/>
            <a:ext cx="555955" cy="55595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08207" y="2834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045367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Operation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273967" y="3840480"/>
            <a:ext cx="1965960" cy="0"/>
          </a:xfrm>
          <a:prstGeom prst="line">
            <a:avLst/>
          </a:prstGeom>
          <a:noFill/>
          <a:ln w="12700">
            <a:solidFill>
              <a:srgbClr val="E2E6E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Text 9"/>
          <p:cNvSpPr/>
          <p:nvPr/>
        </p:nvSpPr>
        <p:spPr>
          <a:xfrm>
            <a:off x="2091087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PH" sz="1200" dirty="0"/>
              <a:t>Operating normally with some variability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091087" y="5029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83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maintenance only — low risk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34287" y="1600200"/>
            <a:ext cx="2697480" cy="44805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6" name="Shape 12"/>
          <p:cNvSpPr/>
          <p:nvPr/>
        </p:nvSpPr>
        <p:spPr>
          <a:xfrm>
            <a:off x="5817267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049" y="2008022"/>
            <a:ext cx="555955" cy="55595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34287" y="2834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971447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200047" y="3840480"/>
            <a:ext cx="1965960" cy="0"/>
          </a:xfrm>
          <a:prstGeom prst="line">
            <a:avLst/>
          </a:prstGeom>
          <a:noFill/>
          <a:ln w="12700">
            <a:solidFill>
              <a:srgbClr val="E2E6E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6"/>
          <p:cNvSpPr/>
          <p:nvPr/>
        </p:nvSpPr>
        <p:spPr>
          <a:xfrm>
            <a:off x="5017167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operating condition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017167" y="5029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no immediate action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786828" y="1600200"/>
            <a:ext cx="2697480" cy="44805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2" name="Shape 26"/>
          <p:cNvSpPr/>
          <p:nvPr/>
        </p:nvSpPr>
        <p:spPr>
          <a:xfrm>
            <a:off x="8769808" y="1920240"/>
            <a:ext cx="731520" cy="731520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7590" y="2008022"/>
            <a:ext cx="555955" cy="55595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786828" y="2834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-1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923988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Abnormal Load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8152588" y="3840480"/>
            <a:ext cx="1965960" cy="0"/>
          </a:xfrm>
          <a:prstGeom prst="line">
            <a:avLst/>
          </a:prstGeom>
          <a:noFill/>
          <a:ln w="12700">
            <a:solidFill>
              <a:srgbClr val="E2E6E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7" name="Text 30"/>
          <p:cNvSpPr/>
          <p:nvPr/>
        </p:nvSpPr>
        <p:spPr>
          <a:xfrm>
            <a:off x="7969708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failure or worth investigating for maintenance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7969708" y="5029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inspection — early intervention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3D8361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36204"/>
            <a:ext cx="500360" cy="500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83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 &amp; ROI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D8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15–30%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77240" y="2423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unplanned downtime by flagging at-risk machines early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5544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Text 8"/>
          <p:cNvSpPr/>
          <p:nvPr/>
        </p:nvSpPr>
        <p:spPr>
          <a:xfrm>
            <a:off x="4343400" y="16916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D8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72000" y="2423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repairs — more predictive, less reactive maintenance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15544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" name="Text 11"/>
          <p:cNvSpPr/>
          <p:nvPr/>
        </p:nvSpPr>
        <p:spPr>
          <a:xfrm>
            <a:off x="8138160" y="16916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D8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366760" y="2423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spend from replacing parts before they actually need it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370332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Equipment Effectiveness (OEE) improves through better availability, performance, and quality.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schedules shift from calendar-based to condition-based — acting on real machine state, not guesswork.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is measurable and simple to track: % downtime reduction = (baseline downtime − new downtime) ÷ baseline × 100.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C3B44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36204"/>
            <a:ext cx="500360" cy="500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C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Teams Will Use This Day to Day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8" name="Shape 5"/>
          <p:cNvSpPr/>
          <p:nvPr/>
        </p:nvSpPr>
        <p:spPr>
          <a:xfrm>
            <a:off x="1431036" y="1810512"/>
            <a:ext cx="292608" cy="292608"/>
          </a:xfrm>
          <a:prstGeom prst="ellipse">
            <a:avLst/>
          </a:prstGeom>
          <a:solidFill>
            <a:srgbClr val="D6870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1431036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257300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110" y="240853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" y="3154680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Stream Data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85800" y="379476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speed, torque, and wear are captured continuously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606040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2807208" y="201168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6" name="Shape 12"/>
          <p:cNvSpPr/>
          <p:nvPr/>
        </p:nvSpPr>
        <p:spPr>
          <a:xfrm>
            <a:off x="3689604" y="1810512"/>
            <a:ext cx="292608" cy="292608"/>
          </a:xfrm>
          <a:prstGeom prst="ellipse">
            <a:avLst/>
          </a:prstGeom>
          <a:solidFill>
            <a:srgbClr val="D6870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3"/>
          <p:cNvSpPr/>
          <p:nvPr/>
        </p:nvSpPr>
        <p:spPr>
          <a:xfrm>
            <a:off x="3689604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515868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678" y="2408530"/>
            <a:ext cx="486461" cy="4864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916936" y="3154680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Assigns a Cluster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2944368" y="379476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machine is placed into a behavior group in near real time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864608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5065776" y="201168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4" name="Shape 19"/>
          <p:cNvSpPr/>
          <p:nvPr/>
        </p:nvSpPr>
        <p:spPr>
          <a:xfrm>
            <a:off x="5948172" y="1810512"/>
            <a:ext cx="292608" cy="292608"/>
          </a:xfrm>
          <a:prstGeom prst="ellipse">
            <a:avLst/>
          </a:prstGeom>
          <a:solidFill>
            <a:srgbClr val="D6870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5" name="Text 20"/>
          <p:cNvSpPr/>
          <p:nvPr/>
        </p:nvSpPr>
        <p:spPr>
          <a:xfrm>
            <a:off x="594817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774436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1246" y="2408530"/>
            <a:ext cx="486461" cy="48646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75504" y="3154680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Flags Risk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202936" y="379476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in “High-Load” or “At-Risk” zones are highlighted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7123176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7324344" y="201168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2" name="Shape 26"/>
          <p:cNvSpPr/>
          <p:nvPr/>
        </p:nvSpPr>
        <p:spPr>
          <a:xfrm>
            <a:off x="8206740" y="1810512"/>
            <a:ext cx="292608" cy="292608"/>
          </a:xfrm>
          <a:prstGeom prst="ellipse">
            <a:avLst/>
          </a:prstGeom>
          <a:solidFill>
            <a:srgbClr val="D6870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3" name="Text 27"/>
          <p:cNvSpPr/>
          <p:nvPr/>
        </p:nvSpPr>
        <p:spPr>
          <a:xfrm>
            <a:off x="820674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8033004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9814" y="2408530"/>
            <a:ext cx="486461" cy="48646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434072" y="3154680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Prioritizes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7461504" y="379476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acts on flags, not a fixed calendar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9381744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9582912" y="201168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40" name="Shape 33"/>
          <p:cNvSpPr/>
          <p:nvPr/>
        </p:nvSpPr>
        <p:spPr>
          <a:xfrm>
            <a:off x="10465308" y="1810512"/>
            <a:ext cx="292608" cy="292608"/>
          </a:xfrm>
          <a:prstGeom prst="ellipse">
            <a:avLst/>
          </a:prstGeom>
          <a:solidFill>
            <a:srgbClr val="D6870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1" name="Text 34"/>
          <p:cNvSpPr/>
          <p:nvPr/>
        </p:nvSpPr>
        <p:spPr>
          <a:xfrm>
            <a:off x="10465308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10291572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8382" y="2408530"/>
            <a:ext cx="486461" cy="486461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692640" y="3154680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Refreshes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9720072" y="379476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periodically as operations evolve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workflow disruption: the model adds an early-warning layer on top of existing maintenance processes.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6D4C8F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36204"/>
            <a:ext cx="500360" cy="500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D4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AI: Ensuring Fair Treatment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6492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audited results by product quality tier (Low / Medium / High) to check no machine type is unfairly over-flagged.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Lower-cost machines do wear faster — an engineering reality, not a flaw in the model — but we actively monitor to keep alerts fair and accurate.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 in place: tier-specific risk thresholds, human review before major maintenance decisions, and ongoing fairness monitoring.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clustering informs maintenance decisions — it does not replace human judgment or expertise.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60920" y="1645920"/>
            <a:ext cx="4251960" cy="4434840"/>
          </a:xfrm>
          <a:prstGeom prst="roundRect">
            <a:avLst>
              <a:gd name="adj" fmla="val 2581"/>
            </a:avLst>
          </a:prstGeom>
          <a:solidFill>
            <a:srgbClr val="F3F0F7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Shape 6"/>
          <p:cNvSpPr/>
          <p:nvPr/>
        </p:nvSpPr>
        <p:spPr>
          <a:xfrm>
            <a:off x="7680960" y="1920240"/>
            <a:ext cx="594360" cy="594360"/>
          </a:xfrm>
          <a:prstGeom prst="ellipse">
            <a:avLst/>
          </a:prstGeom>
          <a:solidFill>
            <a:srgbClr val="6D4C8F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283" y="199156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4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the business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635240" y="2697480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well-governed AI protects trust with maintenance staff, avoids compliance exposure, and ensures the highest-risk machines — not just the cheapest ones — get attention first.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572000" cy="4572000"/>
          </a:xfrm>
          <a:prstGeom prst="ellipse">
            <a:avLst/>
          </a:prstGeom>
          <a:solidFill>
            <a:srgbClr val="2C3B44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D6870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500360" cy="50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&amp; Recommendations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1645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dashboard on one production line to validate real-world impact before a full rollout.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2560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8"/>
          <p:cNvSpPr/>
          <p:nvPr/>
        </p:nvSpPr>
        <p:spPr>
          <a:xfrm>
            <a:off x="822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08760" y="25146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a supervised model to predict failure probability within each behavior state, sharpening early warnings.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3429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11"/>
          <p:cNvSpPr/>
          <p:nvPr/>
        </p:nvSpPr>
        <p:spPr>
          <a:xfrm>
            <a:off x="8229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08760" y="33832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 downtime metrics now, so ROI can be measured accurately once the pilot launches.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4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08760" y="4251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quarterly model retraining and fairness audits as standard operating practice.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22960" y="534924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2C3B44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Text 17"/>
          <p:cNvSpPr/>
          <p:nvPr/>
        </p:nvSpPr>
        <p:spPr>
          <a:xfrm>
            <a:off x="1097280" y="534924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needed:  </a:t>
            </a:r>
            <a:r>
              <a:rPr lang="en-US" sz="1450" dirty="0">
                <a:solidFill>
                  <a:srgbClr val="F5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pilot budget and identify the pilot production line and maintenance team.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1F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TR"/>
          <p:cNvSpPr/>
          <p:nvPr/>
        </p:nvSpPr>
        <p:spPr>
          <a:xfrm>
            <a:off x="7437120" y="0"/>
            <a:ext cx="4754880" cy="4754880"/>
          </a:xfrm>
          <a:prstGeom prst="ellipse">
            <a:avLst/>
          </a:prstGeom>
          <a:solidFill>
            <a:srgbClr val="2C3B44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Decor Circle BL"/>
          <p:cNvSpPr/>
          <p:nvPr/>
        </p:nvSpPr>
        <p:spPr>
          <a:xfrm>
            <a:off x="0" y="3017520"/>
            <a:ext cx="3840480" cy="3840480"/>
          </a:xfrm>
          <a:prstGeom prst="ellipse">
            <a:avLst/>
          </a:prstGeom>
          <a:solidFill>
            <a:srgbClr val="2C3B44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Accent Dot"/>
          <p:cNvSpPr/>
          <p:nvPr/>
        </p:nvSpPr>
        <p:spPr>
          <a:xfrm>
            <a:off x="822960" y="91440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Eyebrow"/>
          <p:cNvSpPr/>
          <p:nvPr/>
        </p:nvSpPr>
        <p:spPr>
          <a:xfrm>
            <a:off x="1188720" y="89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F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/>
          </a:p>
        </p:txBody>
      </p:sp>
      <p:sp>
        <p:nvSpPr>
          <p:cNvPr id="6" name="Heading"/>
          <p:cNvSpPr/>
          <p:nvPr/>
        </p:nvSpPr>
        <p:spPr>
          <a:xfrm>
            <a:off x="822960" y="1341120"/>
            <a:ext cx="914400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5F7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/>
          </a:p>
        </p:txBody>
      </p:sp>
      <p:sp>
        <p:nvSpPr>
          <p:cNvPr id="7" name="Recap"/>
          <p:cNvSpPr/>
          <p:nvPr/>
        </p:nvSpPr>
        <p:spPr>
          <a:xfrm>
            <a:off x="822960" y="22631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i="1">
                <a:solidFill>
                  <a:srgbClr val="A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clustering turns everyday sensor data into an early-warning system — helping maintenance teams act before machines fail.</a:t>
            </a:r>
            <a:endParaRPr lang="en-US" sz="1600"/>
          </a:p>
        </p:txBody>
      </p:sp>
      <p:sp>
        <p:nvSpPr>
          <p:cNvPr id="10" name="Card 1"/>
          <p:cNvSpPr/>
          <p:nvPr/>
        </p:nvSpPr>
        <p:spPr>
          <a:xfrm>
            <a:off x="822960" y="3383280"/>
            <a:ext cx="3315360" cy="1965960"/>
          </a:xfrm>
          <a:prstGeom prst="roundRect">
            <a:avLst>
              <a:gd name="adj" fmla="val 6000"/>
            </a:avLst>
          </a:prstGeom>
          <a:solidFill>
            <a:srgbClr val="2C3B44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Card 1 Num"/>
          <p:cNvSpPr/>
          <p:nvPr/>
        </p:nvSpPr>
        <p:spPr>
          <a:xfrm>
            <a:off x="1080000" y="36400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5F7F7"/>
                </a:solidFill>
                <a:latin typeface="Calibri" pitchFamily="34" charset="0"/>
              </a:rPr>
              <a:t>1</a:t>
            </a:r>
            <a:endParaRPr lang="en-US" sz="1300"/>
          </a:p>
        </p:txBody>
      </p:sp>
      <p:sp>
        <p:nvSpPr>
          <p:cNvPr id="12" name="Card 1 Text"/>
          <p:cNvSpPr/>
          <p:nvPr/>
        </p:nvSpPr>
        <p:spPr>
          <a:xfrm>
            <a:off x="1080000" y="4160520"/>
            <a:ext cx="280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>
                <a:solidFill>
                  <a:srgbClr val="F5F7F7"/>
                </a:solidFill>
                <a:latin typeface="Calibri" pitchFamily="34" charset="0"/>
              </a:rPr>
              <a:t>Patterns, not guesswork</a:t>
            </a:r>
          </a:p>
          <a:p>
            <a:pPr marL="0" indent="0">
              <a:lnSpc>
                <a:spcPct val="104000"/>
              </a:lnSpc>
              <a:buNone/>
            </a:pPr>
            <a:r>
              <a:rPr lang="en-US" sz="1150">
                <a:solidFill>
                  <a:srgbClr val="AFC2C7"/>
                </a:solidFill>
                <a:latin typeface="Calibri" pitchFamily="34" charset="0"/>
              </a:rPr>
              <a:t>Four clear behavior groups reveal each machine’s state in near real time.</a:t>
            </a:r>
            <a:endParaRPr lang="en-US" sz="1150"/>
          </a:p>
        </p:txBody>
      </p:sp>
      <p:sp>
        <p:nvSpPr>
          <p:cNvPr id="20" name="Card 2"/>
          <p:cNvSpPr/>
          <p:nvPr/>
        </p:nvSpPr>
        <p:spPr>
          <a:xfrm>
            <a:off x="4438320" y="3383280"/>
            <a:ext cx="3315360" cy="1965960"/>
          </a:xfrm>
          <a:prstGeom prst="roundRect">
            <a:avLst>
              <a:gd name="adj" fmla="val 6000"/>
            </a:avLst>
          </a:prstGeom>
          <a:solidFill>
            <a:srgbClr val="2C3B44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Card 2 Num"/>
          <p:cNvSpPr/>
          <p:nvPr/>
        </p:nvSpPr>
        <p:spPr>
          <a:xfrm>
            <a:off x="4695360" y="36400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5F7F7"/>
                </a:solidFill>
                <a:latin typeface="Calibri" pitchFamily="34" charset="0"/>
              </a:rPr>
              <a:t>2</a:t>
            </a:r>
            <a:endParaRPr lang="en-US" sz="1300"/>
          </a:p>
        </p:txBody>
      </p:sp>
      <p:sp>
        <p:nvSpPr>
          <p:cNvPr id="22" name="Card 2 Text"/>
          <p:cNvSpPr/>
          <p:nvPr/>
        </p:nvSpPr>
        <p:spPr>
          <a:xfrm>
            <a:off x="4695360" y="4160520"/>
            <a:ext cx="280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>
                <a:solidFill>
                  <a:srgbClr val="F5F7F7"/>
                </a:solidFill>
                <a:latin typeface="Calibri" pitchFamily="34" charset="0"/>
              </a:rPr>
              <a:t>Measurable ROI</a:t>
            </a:r>
          </a:p>
          <a:p>
            <a:pPr marL="0" indent="0">
              <a:lnSpc>
                <a:spcPct val="104000"/>
              </a:lnSpc>
              <a:buNone/>
            </a:pPr>
            <a:r>
              <a:rPr lang="en-US" sz="1150">
                <a:solidFill>
                  <a:srgbClr val="AFC2C7"/>
                </a:solidFill>
                <a:latin typeface="Calibri" pitchFamily="34" charset="0"/>
              </a:rPr>
              <a:t>15–30% less unplanned downtime and a shift from calendar to condition-based upkeep.</a:t>
            </a:r>
            <a:endParaRPr lang="en-US" sz="1150"/>
          </a:p>
        </p:txBody>
      </p:sp>
      <p:sp>
        <p:nvSpPr>
          <p:cNvPr id="30" name="Card 3"/>
          <p:cNvSpPr/>
          <p:nvPr/>
        </p:nvSpPr>
        <p:spPr>
          <a:xfrm>
            <a:off x="8053680" y="3383280"/>
            <a:ext cx="3315360" cy="1965960"/>
          </a:xfrm>
          <a:prstGeom prst="roundRect">
            <a:avLst>
              <a:gd name="adj" fmla="val 6000"/>
            </a:avLst>
          </a:prstGeom>
          <a:solidFill>
            <a:srgbClr val="2C3B44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1" name="Card 3 Num"/>
          <p:cNvSpPr/>
          <p:nvPr/>
        </p:nvSpPr>
        <p:spPr>
          <a:xfrm>
            <a:off x="8310720" y="36400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5F7F7"/>
                </a:solidFill>
                <a:latin typeface="Calibri" pitchFamily="34" charset="0"/>
              </a:rPr>
              <a:t>3</a:t>
            </a:r>
            <a:endParaRPr lang="en-US" sz="1300"/>
          </a:p>
        </p:txBody>
      </p:sp>
      <p:sp>
        <p:nvSpPr>
          <p:cNvPr id="32" name="Card 3 Text"/>
          <p:cNvSpPr/>
          <p:nvPr/>
        </p:nvSpPr>
        <p:spPr>
          <a:xfrm>
            <a:off x="8310720" y="4160520"/>
            <a:ext cx="280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>
                <a:solidFill>
                  <a:srgbClr val="F5F7F7"/>
                </a:solidFill>
                <a:latin typeface="Calibri" pitchFamily="34" charset="0"/>
              </a:rPr>
              <a:t>Responsible by design</a:t>
            </a:r>
          </a:p>
          <a:p>
            <a:pPr marL="0" indent="0">
              <a:lnSpc>
                <a:spcPct val="104000"/>
              </a:lnSpc>
              <a:buNone/>
            </a:pPr>
            <a:r>
              <a:rPr lang="en-US" sz="1150">
                <a:solidFill>
                  <a:srgbClr val="AFC2C7"/>
                </a:solidFill>
                <a:latin typeface="Calibri" pitchFamily="34" charset="0"/>
              </a:rPr>
              <a:t>Fairness audits and human review keep every maintenance decision trustworthy.</a:t>
            </a:r>
            <a:endParaRPr lang="en-US" sz="1150"/>
          </a:p>
        </p:txBody>
      </p:sp>
      <p:sp>
        <p:nvSpPr>
          <p:cNvPr id="40" name="Next Step Bar"/>
          <p:cNvSpPr/>
          <p:nvPr/>
        </p:nvSpPr>
        <p:spPr>
          <a:xfrm>
            <a:off x="822960" y="5638800"/>
            <a:ext cx="10545780" cy="6096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  <p:txBody>
          <a:bodyPr wrap="square" lIns="182880" tIns="0" rIns="18288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5F7F7"/>
                </a:solidFill>
                <a:latin typeface="Calibri" pitchFamily="34" charset="0"/>
              </a:rPr>
              <a:t>Next step: </a:t>
            </a:r>
            <a:r>
              <a:rPr lang="en-US" sz="1300">
                <a:solidFill>
                  <a:srgbClr val="F5F7F7"/>
                </a:solidFill>
                <a:latin typeface="Calibri" pitchFamily="34" charset="0"/>
              </a:rPr>
              <a:t>approve the pilot budget and identify the pilot production line and maintenance team.</a:t>
            </a:r>
            <a:endParaRPr lang="en-US" sz="1300"/>
          </a:p>
        </p:txBody>
      </p:sp>
      <p:sp>
        <p:nvSpPr>
          <p:cNvPr id="41" name="Footer"/>
          <p:cNvSpPr/>
          <p:nvPr/>
        </p:nvSpPr>
        <p:spPr>
          <a:xfrm>
            <a:off x="822960" y="6324600"/>
            <a:ext cx="1054578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AFC2C7"/>
                </a:solidFill>
                <a:latin typeface="Calibri" pitchFamily="34" charset="0"/>
              </a:rPr>
              <a:t>Project files: </a:t>
            </a:r>
            <a:r>
              <a:rPr lang="en-US" sz="1050" b="1" dirty="0">
                <a:solidFill>
                  <a:srgbClr val="F4A11B"/>
                </a:solidFill>
                <a:latin typeface="Calibri" pitchFamily="34" charset="0"/>
              </a:rPr>
              <a:t>github.com/</a:t>
            </a:r>
            <a:r>
              <a:rPr lang="en-US" sz="1050" b="1" dirty="0" err="1">
                <a:solidFill>
                  <a:srgbClr val="F4A11B"/>
                </a:solidFill>
                <a:latin typeface="Calibri" pitchFamily="34" charset="0"/>
              </a:rPr>
              <a:t>Apaelijo</a:t>
            </a:r>
            <a:r>
              <a:rPr lang="en-US" sz="1050" b="1" dirty="0">
                <a:solidFill>
                  <a:srgbClr val="F4A11B"/>
                </a:solidFill>
                <a:latin typeface="Calibri" pitchFamily="34" charset="0"/>
              </a:rPr>
              <a:t>/predictive-maintenance-clustering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FC2C7"/>
                </a:solidFill>
                <a:latin typeface="Calibri" pitchFamily="34" charset="0"/>
              </a:rPr>
              <a:t>Prepared by Christopher Lopez   |   AIM Post Graduate Diploma in AI and Machine Learning – June 2025 –July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99401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1157</Words>
  <Application>Microsoft Office PowerPoint</Application>
  <PresentationFormat>Widescreen</PresentationFormat>
  <Paragraphs>156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Maintenance: Machine Behavior Clustering</dc:title>
  <dc:subject>PptxGenJS Presentation</dc:subject>
  <dc:creator>AI/ML Technical Team</dc:creator>
  <cp:lastModifiedBy>Christopher Lopez</cp:lastModifiedBy>
  <cp:revision>9</cp:revision>
  <dcterms:created xsi:type="dcterms:W3CDTF">2026-07-05T10:58:38Z</dcterms:created>
  <dcterms:modified xsi:type="dcterms:W3CDTF">2026-07-14T16:03:10Z</dcterms:modified>
</cp:coreProperties>
</file>