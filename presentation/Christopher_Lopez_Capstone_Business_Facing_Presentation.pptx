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0327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463040"/>
            <a:ext cx="4754880" cy="47548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-1463040" y="4937760"/>
            <a:ext cx="3840480" cy="38404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822960" y="9144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035101"/>
            <a:ext cx="764438" cy="7644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BUSINESS CASE REVIEW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 Through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Behavior Clustering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everyday sensor data into an early-warning system for industrial equipment — so maintenance teams act before machines fail.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5396905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Christopher Lopez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for the AIM Postgraduate Diploma in AI and Machine Learning</a:t>
            </a:r>
          </a:p>
          <a:p>
            <a:r>
              <a:rPr lang="en-US" sz="1200" dirty="0">
                <a:solidFill>
                  <a:srgbClr val="AFC2C7"/>
                </a:solidFill>
                <a:latin typeface="Calibri" pitchFamily="34" charset="0"/>
              </a:rPr>
              <a:t>Project files: </a:t>
            </a:r>
            <a:r>
              <a:rPr lang="en-US" sz="1200" b="1" dirty="0">
                <a:solidFill>
                  <a:srgbClr val="F4A11B"/>
                </a:solidFill>
                <a:latin typeface="Calibri" pitchFamily="34" charset="0"/>
              </a:rPr>
              <a:t>github.com/</a:t>
            </a:r>
            <a:r>
              <a:rPr lang="en-US" sz="1200" b="1" dirty="0" err="1">
                <a:solidFill>
                  <a:srgbClr val="F4A11B"/>
                </a:solidFill>
                <a:latin typeface="Calibri" pitchFamily="34" charset="0"/>
              </a:rPr>
              <a:t>apaelijo</a:t>
            </a:r>
            <a:r>
              <a:rPr lang="en-US" sz="1200" b="1" dirty="0">
                <a:solidFill>
                  <a:srgbClr val="F4A11B"/>
                </a:solidFill>
                <a:latin typeface="Calibri" pitchFamily="34" charset="0"/>
              </a:rPr>
              <a:t>/predictive-maintenance-clustering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6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Challenge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6309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Unplanned equipment failures halt production, delay orders, and drive up emergency repair costs.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maintenance is reactive — teams fix machines after something breaks, rather than catching warning signs early.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preventive-maintenance schedules waste money: parts get replaced too early, or fail before their scheduled check.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machine behaves a little differently depending on load, product type, and wear — making “abnormal” hard to spot by eye.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269480" y="1554480"/>
            <a:ext cx="4343400" cy="461772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7269480" y="192024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D687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3.4%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7635240" y="2880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machine-hours in the data involve an actual failure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657600"/>
            <a:ext cx="361188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9"/>
          <p:cNvSpPr/>
          <p:nvPr/>
        </p:nvSpPr>
        <p:spPr>
          <a:xfrm>
            <a:off x="7635240" y="3840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rarity is exactly the problem: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635240" y="4206240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are needles in a haystack of normal operation — which is why we need AI to learn the normal patterns first.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Behind the Model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operating records from milling machines — modeled on real industrial process data (AI4I 2020 dataset).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complete: no missing values, ready to analyze.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three product quality tiers — Low, Medium, High — each with different wear characteristics.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Rare-event data: only ~3.4% of records are tied to a failure, just like a real, well-run plant.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263640" y="1508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Everyday Signals We Track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1214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03720" y="19842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Temperature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903720" y="2240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the environment is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63640" y="2724912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83464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Temperature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90372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the machine runs inside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63640" y="3438144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354787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03720" y="34107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Rotational Speed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903720" y="3666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the motor spins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263640" y="4151376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2611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03720" y="4123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903720" y="43799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load the machine carries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263640" y="4864608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497433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03720" y="48371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Wear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903720" y="5093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tool has been in use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Told Us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machines cluster in a similar “normal” zone — failures don't stand out as an obviously separate group.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(mechanical load) is the clearest dividing line between operating states: higher load consistently means higher stress.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quality tier alone does not explain machine behavior — it's a contributing factor, not the root cause.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behavior clustering surfaces genuinely useful operating patterns, but must be paired with other tools to catch every rare failure.</a:t>
            </a: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559ADE-2D4B-94DB-6BB4-339705F57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57" y="3924110"/>
            <a:ext cx="9848062" cy="27510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C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METHOD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Machines by Behavior, Automatically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6035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unsupervised clustering — the AI groups machines by how they behave, without being told in advance what a “failure” looks like.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clustering techniques were built and compared side-by-side (K-Means, DBSCAN, and Hierarchical clustering).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clearest, most interpretable result came from K-Means, organizing machines into four distinct operating states.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sorting machines into buckets based on how they're behaving right now — not their age, brand, or paperwork.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04088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Shape 6"/>
          <p:cNvSpPr/>
          <p:nvPr/>
        </p:nvSpPr>
        <p:spPr>
          <a:xfrm>
            <a:off x="7376160" y="2423160"/>
            <a:ext cx="640080" cy="6400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970" y="2499970"/>
            <a:ext cx="486461" cy="48646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351520" y="33375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867156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4" name="Shape 10"/>
          <p:cNvSpPr/>
          <p:nvPr/>
        </p:nvSpPr>
        <p:spPr>
          <a:xfrm>
            <a:off x="9006840" y="242316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3650" y="2499970"/>
            <a:ext cx="486461" cy="48646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7156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9982200" y="33375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1030224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9" name="Shape 14"/>
          <p:cNvSpPr/>
          <p:nvPr/>
        </p:nvSpPr>
        <p:spPr>
          <a:xfrm>
            <a:off x="10637520" y="2423160"/>
            <a:ext cx="640080" cy="640080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4330" y="249997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30224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Behavior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040880" y="5486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evaluated using standard clustering quality scores (separation and cohesion) — K-Means (4 groups) gave the most business-usable result.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Machine Behavior Profiles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Shape 5"/>
          <p:cNvSpPr/>
          <p:nvPr/>
        </p:nvSpPr>
        <p:spPr>
          <a:xfrm>
            <a:off x="1531620" y="1920240"/>
            <a:ext cx="731520" cy="731520"/>
          </a:xfrm>
          <a:prstGeom prst="ellipse">
            <a:avLst/>
          </a:prstGeom>
          <a:solidFill>
            <a:srgbClr val="3D836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402" y="2008022"/>
            <a:ext cx="555955" cy="55595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Operators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914400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9"/>
          <p:cNvSpPr/>
          <p:nvPr/>
        </p:nvSpPr>
        <p:spPr>
          <a:xfrm>
            <a:off x="73152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smoothly under normal load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3152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83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maintenance only — low risk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474720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4457700" y="19202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5482" y="2008022"/>
            <a:ext cx="555955" cy="55595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47472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611880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Efficient / Young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3840480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6"/>
          <p:cNvSpPr/>
          <p:nvPr/>
        </p:nvSpPr>
        <p:spPr>
          <a:xfrm>
            <a:off x="365760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or recently serviced units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365760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no immediate action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00800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7383780" y="1920240"/>
            <a:ext cx="731520" cy="731520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1562" y="2008022"/>
            <a:ext cx="555955" cy="55595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40080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537960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High-Load Machines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6766560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3"/>
          <p:cNvSpPr/>
          <p:nvPr/>
        </p:nvSpPr>
        <p:spPr>
          <a:xfrm>
            <a:off x="658368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hard, elevated temperature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58368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preventive checks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326880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32" name="Shape 26"/>
          <p:cNvSpPr/>
          <p:nvPr/>
        </p:nvSpPr>
        <p:spPr>
          <a:xfrm>
            <a:off x="10309860" y="1920240"/>
            <a:ext cx="731520" cy="731520"/>
          </a:xfrm>
          <a:prstGeom prst="ellipse">
            <a:avLst/>
          </a:prstGeom>
          <a:solidFill>
            <a:srgbClr val="C1440E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7642" y="2008022"/>
            <a:ext cx="555955" cy="55595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32688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9464040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Aging / At-Risk</a:t>
            </a:r>
            <a:endParaRPr lang="en-US" sz="1600" dirty="0"/>
          </a:p>
        </p:txBody>
      </p:sp>
      <p:sp>
        <p:nvSpPr>
          <p:cNvPr id="36" name="Shape 29"/>
          <p:cNvSpPr/>
          <p:nvPr/>
        </p:nvSpPr>
        <p:spPr>
          <a:xfrm>
            <a:off x="9692640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0"/>
          <p:cNvSpPr/>
          <p:nvPr/>
        </p:nvSpPr>
        <p:spPr>
          <a:xfrm>
            <a:off x="950976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wear, rising temperature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950976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inspection — early intervention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3D836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D83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Business Impact &amp; ROI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15–30%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unplanned downtime by flagging at-risk machines early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434340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repairs — more predictive, less reactive maintenance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3816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4" name="Text 11"/>
          <p:cNvSpPr/>
          <p:nvPr/>
        </p:nvSpPr>
        <p:spPr>
          <a:xfrm>
            <a:off x="813816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36676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spend from replacing parts before they actually need it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3703320"/>
            <a:ext cx="10881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Equipment Effectiveness (OEE) improves through better availability, performance, and quality.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schedules shift from calendar-based to condition-based — acting on real machine state, not guesswork.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is measurable and simple to track: % downtime reduction = (baseline downtime − new downtime) ÷ baseline × 100.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C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Teams Will Use This Day to Day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Shape 5"/>
          <p:cNvSpPr/>
          <p:nvPr/>
        </p:nvSpPr>
        <p:spPr>
          <a:xfrm>
            <a:off x="1431036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1431036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57300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4110" y="2408530"/>
            <a:ext cx="486461" cy="4864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8368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Stream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85800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speed, torque, and wear are captured continuously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2606040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07208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3689604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3"/>
          <p:cNvSpPr/>
          <p:nvPr/>
        </p:nvSpPr>
        <p:spPr>
          <a:xfrm>
            <a:off x="3689604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515868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678" y="2408530"/>
            <a:ext cx="486461" cy="48646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916936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Assigns a Cluster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2944368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machine is placed into a behavior group in near real time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4864608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65776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5948172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Text 20"/>
          <p:cNvSpPr/>
          <p:nvPr/>
        </p:nvSpPr>
        <p:spPr>
          <a:xfrm>
            <a:off x="5948172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5774436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1246" y="2408530"/>
            <a:ext cx="486461" cy="48646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75504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Flags Risk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02936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in “High-Load” or “At-Risk” zones are highlighted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7123176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7324344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32" name="Shape 26"/>
          <p:cNvSpPr/>
          <p:nvPr/>
        </p:nvSpPr>
        <p:spPr>
          <a:xfrm>
            <a:off x="8206740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3" name="Text 27"/>
          <p:cNvSpPr/>
          <p:nvPr/>
        </p:nvSpPr>
        <p:spPr>
          <a:xfrm>
            <a:off x="820674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8033004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9814" y="2408530"/>
            <a:ext cx="486461" cy="486461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434072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Prioritizes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7461504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acts on flags, not a fixed calendar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9381744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2"/>
          <p:cNvSpPr/>
          <p:nvPr/>
        </p:nvSpPr>
        <p:spPr>
          <a:xfrm>
            <a:off x="9582912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40" name="Shape 33"/>
          <p:cNvSpPr/>
          <p:nvPr/>
        </p:nvSpPr>
        <p:spPr>
          <a:xfrm>
            <a:off x="10465308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1" name="Text 34"/>
          <p:cNvSpPr/>
          <p:nvPr/>
        </p:nvSpPr>
        <p:spPr>
          <a:xfrm>
            <a:off x="10465308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10291572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8382" y="2408530"/>
            <a:ext cx="486461" cy="486461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92640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Refreshes</a:t>
            </a:r>
            <a:endParaRPr lang="en-US" sz="1250" dirty="0"/>
          </a:p>
        </p:txBody>
      </p:sp>
      <p:sp>
        <p:nvSpPr>
          <p:cNvPr id="45" name="Text 37"/>
          <p:cNvSpPr/>
          <p:nvPr/>
        </p:nvSpPr>
        <p:spPr>
          <a:xfrm>
            <a:off x="9720072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periodically as operations evolve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workflow disruption: the model adds an early-warning layer on top of existing maintenance processes.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6D4C8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D4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AI: Ensuring Fair Treatment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649224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results by product quality tier (Low / Medium / High) to check no machine type is unfairly over-flagged.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Lower-cost machines do wear faster — an engineering reality, not a flaw in the model — but we actively monitor to keep alerts fair and accurate.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in place: tier-specific risk thresholds, human review before major maintenance decisions, and ongoing fairness monitoring.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clustering informs maintenance decisions — it does not replace human judgment or expertise.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60920" y="1645920"/>
            <a:ext cx="4251960" cy="4434840"/>
          </a:xfrm>
          <a:prstGeom prst="roundRect">
            <a:avLst>
              <a:gd name="adj" fmla="val 2581"/>
            </a:avLst>
          </a:prstGeom>
          <a:solidFill>
            <a:srgbClr val="F3F0F7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Shape 6"/>
          <p:cNvSpPr/>
          <p:nvPr/>
        </p:nvSpPr>
        <p:spPr>
          <a:xfrm>
            <a:off x="7680960" y="1920240"/>
            <a:ext cx="594360" cy="594360"/>
          </a:xfrm>
          <a:prstGeom prst="ellipse">
            <a:avLst/>
          </a:prstGeom>
          <a:solidFill>
            <a:srgbClr val="6D4C8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283" y="199156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4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to the business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635240" y="2697480"/>
            <a:ext cx="3703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well-governed AI protects trust with maintenance staff, avoids compliance exposure, and ensures the highest-risk machines — not just the cheapest ones — get attention first.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658368" cy="65836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81924"/>
            <a:ext cx="500360" cy="50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371600" y="731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&amp; Recommendations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64592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dashboard on one production line to validate real-world impact before a full rollout.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508760" y="251460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 a supervised model to predict failure probability within each behavior state, sharpening early warnings.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2960" y="34290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508760" y="33832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baseline downtime metrics now, so ROI can be measured accurately once the pilot launches.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508760" y="42519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quarterly model retraining and fairness audits as standard operating practice.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" y="534924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7"/>
          <p:cNvSpPr/>
          <p:nvPr/>
        </p:nvSpPr>
        <p:spPr>
          <a:xfrm>
            <a:off x="109728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needed:  </a:t>
            </a:r>
            <a:r>
              <a:rPr lang="en-US" sz="145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pilot budget and identify the pilot production line and maintenance team.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TR"/>
          <p:cNvSpPr/>
          <p:nvPr/>
        </p:nvSpPr>
        <p:spPr>
          <a:xfrm>
            <a:off x="7437120" y="0"/>
            <a:ext cx="4754880" cy="47548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Decor Circle BL"/>
          <p:cNvSpPr/>
          <p:nvPr/>
        </p:nvSpPr>
        <p:spPr>
          <a:xfrm>
            <a:off x="0" y="3017520"/>
            <a:ext cx="3840480" cy="38404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Accent Dot"/>
          <p:cNvSpPr/>
          <p:nvPr/>
        </p:nvSpPr>
        <p:spPr>
          <a:xfrm>
            <a:off x="822960" y="914400"/>
            <a:ext cx="228600" cy="228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" name="Eyebrow"/>
          <p:cNvSpPr/>
          <p:nvPr/>
        </p:nvSpPr>
        <p:spPr>
          <a:xfrm>
            <a:off x="1188720" y="89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/>
          </a:p>
        </p:txBody>
      </p:sp>
      <p:sp>
        <p:nvSpPr>
          <p:cNvPr id="6" name="Heading"/>
          <p:cNvSpPr/>
          <p:nvPr/>
        </p:nvSpPr>
        <p:spPr>
          <a:xfrm>
            <a:off x="822960" y="1341120"/>
            <a:ext cx="9144000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/>
          </a:p>
        </p:txBody>
      </p:sp>
      <p:sp>
        <p:nvSpPr>
          <p:cNvPr id="7" name="Recap"/>
          <p:cNvSpPr/>
          <p:nvPr/>
        </p:nvSpPr>
        <p:spPr>
          <a:xfrm>
            <a:off x="822960" y="22631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i="1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clustering turns everyday sensor data into an early-warning system — helping maintenance teams act before machines fail.</a:t>
            </a:r>
            <a:endParaRPr lang="en-US" sz="1600"/>
          </a:p>
        </p:txBody>
      </p:sp>
      <p:sp>
        <p:nvSpPr>
          <p:cNvPr id="10" name="Card 1"/>
          <p:cNvSpPr/>
          <p:nvPr/>
        </p:nvSpPr>
        <p:spPr>
          <a:xfrm>
            <a:off x="82296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Card 1 Num"/>
          <p:cNvSpPr/>
          <p:nvPr/>
        </p:nvSpPr>
        <p:spPr>
          <a:xfrm>
            <a:off x="108000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1</a:t>
            </a:r>
            <a:endParaRPr lang="en-US" sz="1300"/>
          </a:p>
        </p:txBody>
      </p:sp>
      <p:sp>
        <p:nvSpPr>
          <p:cNvPr id="12" name="Card 1 Text"/>
          <p:cNvSpPr/>
          <p:nvPr/>
        </p:nvSpPr>
        <p:spPr>
          <a:xfrm>
            <a:off x="108000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Patterns, not guesswork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Four clear behavior groups reveal each machine’s state in near real time.</a:t>
            </a:r>
            <a:endParaRPr lang="en-US" sz="1150"/>
          </a:p>
        </p:txBody>
      </p:sp>
      <p:sp>
        <p:nvSpPr>
          <p:cNvPr id="20" name="Card 2"/>
          <p:cNvSpPr/>
          <p:nvPr/>
        </p:nvSpPr>
        <p:spPr>
          <a:xfrm>
            <a:off x="443832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1" name="Card 2 Num"/>
          <p:cNvSpPr/>
          <p:nvPr/>
        </p:nvSpPr>
        <p:spPr>
          <a:xfrm>
            <a:off x="469536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2</a:t>
            </a:r>
            <a:endParaRPr lang="en-US" sz="1300"/>
          </a:p>
        </p:txBody>
      </p:sp>
      <p:sp>
        <p:nvSpPr>
          <p:cNvPr id="22" name="Card 2 Text"/>
          <p:cNvSpPr/>
          <p:nvPr/>
        </p:nvSpPr>
        <p:spPr>
          <a:xfrm>
            <a:off x="469536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Measurable ROI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15–30% less unplanned downtime and a shift from calendar to condition-based upkeep.</a:t>
            </a:r>
            <a:endParaRPr lang="en-US" sz="1150"/>
          </a:p>
        </p:txBody>
      </p:sp>
      <p:sp>
        <p:nvSpPr>
          <p:cNvPr id="30" name="Card 3"/>
          <p:cNvSpPr/>
          <p:nvPr/>
        </p:nvSpPr>
        <p:spPr>
          <a:xfrm>
            <a:off x="805368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1" name="Card 3 Num"/>
          <p:cNvSpPr/>
          <p:nvPr/>
        </p:nvSpPr>
        <p:spPr>
          <a:xfrm>
            <a:off x="831072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3</a:t>
            </a:r>
            <a:endParaRPr lang="en-US" sz="1300"/>
          </a:p>
        </p:txBody>
      </p:sp>
      <p:sp>
        <p:nvSpPr>
          <p:cNvPr id="32" name="Card 3 Text"/>
          <p:cNvSpPr/>
          <p:nvPr/>
        </p:nvSpPr>
        <p:spPr>
          <a:xfrm>
            <a:off x="831072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Responsible by design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Fairness audits and human review keep every maintenance decision trustworthy.</a:t>
            </a:r>
            <a:endParaRPr lang="en-US" sz="1150"/>
          </a:p>
        </p:txBody>
      </p:sp>
      <p:sp>
        <p:nvSpPr>
          <p:cNvPr id="40" name="Next Step Bar"/>
          <p:cNvSpPr/>
          <p:nvPr/>
        </p:nvSpPr>
        <p:spPr>
          <a:xfrm>
            <a:off x="822960" y="5638800"/>
            <a:ext cx="10545780" cy="6096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  <p:txBody>
          <a:bodyPr wrap="square" lIns="182880" tIns="0" rIns="18288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Next step: </a:t>
            </a:r>
            <a:r>
              <a:rPr lang="en-US" sz="1300">
                <a:solidFill>
                  <a:srgbClr val="F5F7F7"/>
                </a:solidFill>
                <a:latin typeface="Calibri" pitchFamily="34" charset="0"/>
              </a:rPr>
              <a:t>approve the pilot budget and identify the pilot production line and maintenance team.</a:t>
            </a:r>
            <a:endParaRPr lang="en-US" sz="1300"/>
          </a:p>
        </p:txBody>
      </p:sp>
      <p:sp>
        <p:nvSpPr>
          <p:cNvPr id="41" name="Footer"/>
          <p:cNvSpPr/>
          <p:nvPr/>
        </p:nvSpPr>
        <p:spPr>
          <a:xfrm>
            <a:off x="822960" y="6324600"/>
            <a:ext cx="1054578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dirty="0">
                <a:solidFill>
                  <a:srgbClr val="AFC2C7"/>
                </a:solidFill>
                <a:latin typeface="Calibri" pitchFamily="34" charset="0"/>
              </a:rPr>
              <a:t>Project files: </a:t>
            </a:r>
            <a:r>
              <a:rPr lang="en-US" sz="1050" b="1" dirty="0">
                <a:solidFill>
                  <a:srgbClr val="F4A11B"/>
                </a:solidFill>
                <a:latin typeface="Calibri" pitchFamily="34" charset="0"/>
              </a:rPr>
              <a:t>github.com/</a:t>
            </a:r>
            <a:r>
              <a:rPr lang="en-US" sz="1050" b="1" dirty="0" err="1">
                <a:solidFill>
                  <a:srgbClr val="F4A11B"/>
                </a:solidFill>
                <a:latin typeface="Calibri" pitchFamily="34" charset="0"/>
              </a:rPr>
              <a:t>Apaelijo</a:t>
            </a:r>
            <a:r>
              <a:rPr lang="en-US" sz="1050" b="1" dirty="0">
                <a:solidFill>
                  <a:srgbClr val="F4A11B"/>
                </a:solidFill>
                <a:latin typeface="Calibri" pitchFamily="34" charset="0"/>
              </a:rPr>
              <a:t>/predictive-maintenance-clustering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FC2C7"/>
                </a:solidFill>
                <a:latin typeface="Calibri" pitchFamily="34" charset="0"/>
              </a:rPr>
              <a:t>Prepared by Christopher Lopez   |   AIM Post Graduate Diploma in AI and Machine Learning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99401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1142</Words>
  <Application>Microsoft Office PowerPoint</Application>
  <PresentationFormat>Widescreen</PresentationFormat>
  <Paragraphs>159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Maintenance: Machine Behavior Clustering</dc:title>
  <dc:subject>PptxGenJS Presentation</dc:subject>
  <dc:creator>AI/ML Technical Team</dc:creator>
  <cp:lastModifiedBy>Christopher Lopez</cp:lastModifiedBy>
  <cp:revision>6</cp:revision>
  <dcterms:created xsi:type="dcterms:W3CDTF">2026-07-05T10:58:38Z</dcterms:created>
  <dcterms:modified xsi:type="dcterms:W3CDTF">2026-07-05T11:34:14Z</dcterms:modified>
</cp:coreProperties>
</file>