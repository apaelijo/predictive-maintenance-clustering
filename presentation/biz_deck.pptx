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E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80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ustrial machinery with IoT sensors in a dark factory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3">
              <a:alpha val="66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0E1E33">
              <a:alpha val="86000"/>
            </a:srgb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Shape 2"/>
          <p:cNvSpPr/>
          <p:nvPr/>
        </p:nvSpPr>
        <p:spPr>
          <a:xfrm>
            <a:off x="777240" y="1234440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1024128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MACHINE LEARNING   ·   END-TO-END CLUSTERING PIPELINE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49808" y="173736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 Clustering for</a:t>
            </a:r>
            <a:endParaRPr lang="en-US" sz="44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Maintenance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35661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CA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latent operating regimes and failure-prone conditions in the AI4I 2020 dataset — with no labels.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77240" y="5074920"/>
            <a:ext cx="2331720" cy="786384"/>
          </a:xfrm>
          <a:prstGeom prst="rect">
            <a:avLst/>
          </a:prstGeom>
          <a:solidFill>
            <a:srgbClr val="13294B">
              <a:alpha val="88000"/>
            </a:srgbClr>
          </a:solidFill>
          <a:ln w="12700">
            <a:solidFill>
              <a:srgbClr val="3E6FA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Shape 7"/>
          <p:cNvSpPr/>
          <p:nvPr/>
        </p:nvSpPr>
        <p:spPr>
          <a:xfrm>
            <a:off x="777240" y="5074920"/>
            <a:ext cx="64008" cy="786384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960120" y="517550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60120" y="53949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· k = 4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364992" y="5074920"/>
            <a:ext cx="1737360" cy="786384"/>
          </a:xfrm>
          <a:prstGeom prst="rect">
            <a:avLst/>
          </a:prstGeom>
          <a:solidFill>
            <a:srgbClr val="13294B">
              <a:alpha val="88000"/>
            </a:srgbClr>
          </a:solidFill>
          <a:ln w="12700">
            <a:solidFill>
              <a:srgbClr val="3E6FA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3364992" y="5074920"/>
            <a:ext cx="64008" cy="7863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2"/>
          <p:cNvSpPr/>
          <p:nvPr/>
        </p:nvSpPr>
        <p:spPr>
          <a:xfrm>
            <a:off x="3547872" y="5175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SILHOUETTE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547872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358384" y="5074920"/>
            <a:ext cx="1737360" cy="786384"/>
          </a:xfrm>
          <a:prstGeom prst="rect">
            <a:avLst/>
          </a:prstGeom>
          <a:solidFill>
            <a:srgbClr val="13294B">
              <a:alpha val="88000"/>
            </a:srgbClr>
          </a:solidFill>
          <a:ln w="12700">
            <a:solidFill>
              <a:srgbClr val="3E6FA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5"/>
          <p:cNvSpPr/>
          <p:nvPr/>
        </p:nvSpPr>
        <p:spPr>
          <a:xfrm>
            <a:off x="5358384" y="5074920"/>
            <a:ext cx="64008" cy="7863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6"/>
          <p:cNvSpPr/>
          <p:nvPr/>
        </p:nvSpPr>
        <p:spPr>
          <a:xfrm>
            <a:off x="5541264" y="5175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DAVIES–BOULDIN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541264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0.86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51776" y="5074920"/>
            <a:ext cx="1737360" cy="786384"/>
          </a:xfrm>
          <a:prstGeom prst="rect">
            <a:avLst/>
          </a:prstGeom>
          <a:solidFill>
            <a:srgbClr val="13294B">
              <a:alpha val="88000"/>
            </a:srgbClr>
          </a:solidFill>
          <a:ln w="12700">
            <a:solidFill>
              <a:srgbClr val="3E6FA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Shape 19"/>
          <p:cNvSpPr/>
          <p:nvPr/>
        </p:nvSpPr>
        <p:spPr>
          <a:xfrm>
            <a:off x="7351776" y="5074920"/>
            <a:ext cx="64008" cy="78638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0"/>
          <p:cNvSpPr/>
          <p:nvPr/>
        </p:nvSpPr>
        <p:spPr>
          <a:xfrm>
            <a:off x="7534656" y="51755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INSTANCES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534656" y="5394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772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technical review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64008" cy="822960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17465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Problem &amp; Objectives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600200" y="20574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unsupervised, and what success looks like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64008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749808" y="257860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00200" y="2697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300837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instances of machine telemetry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64008" cy="822960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749808" y="3529584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00200" y="36484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&amp; Feature Engineering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600200" y="39593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plus temp_diff &amp; power_proxy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64008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749808" y="448056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600200" y="4599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Clustering Tendency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600200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distributions, Hopkins test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31536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548640" y="5431536"/>
            <a:ext cx="64008" cy="822960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749808" y="5431536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600200" y="55504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 Algorithms &amp; Tuning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600200" y="58613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Hierarchical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1627632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6355080" y="1627632"/>
            <a:ext cx="64008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Text 31"/>
          <p:cNvSpPr/>
          <p:nvPr/>
        </p:nvSpPr>
        <p:spPr>
          <a:xfrm>
            <a:off x="6556248" y="1627632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06640" y="17465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Model Comparison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7406640" y="20574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&amp; Davies–Bouldin scoring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2578608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7" name="Shape 35"/>
          <p:cNvSpPr/>
          <p:nvPr/>
        </p:nvSpPr>
        <p:spPr>
          <a:xfrm>
            <a:off x="6355080" y="2578608"/>
            <a:ext cx="64008" cy="822960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8" name="Text 36"/>
          <p:cNvSpPr/>
          <p:nvPr/>
        </p:nvSpPr>
        <p:spPr>
          <a:xfrm>
            <a:off x="6556248" y="2578608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406640" y="26974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Interpretation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7406640" y="300837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and failure rates per regime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3529584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2" name="Shape 40"/>
          <p:cNvSpPr/>
          <p:nvPr/>
        </p:nvSpPr>
        <p:spPr>
          <a:xfrm>
            <a:off x="6355080" y="3529584"/>
            <a:ext cx="64008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3" name="Text 41"/>
          <p:cNvSpPr/>
          <p:nvPr/>
        </p:nvSpPr>
        <p:spPr>
          <a:xfrm>
            <a:off x="6556248" y="3529584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406640" y="36484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&amp; Fairness Audit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7406640" y="395935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across machine Type L/M/H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55080" y="4480560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7" name="Shape 45"/>
          <p:cNvSpPr/>
          <p:nvPr/>
        </p:nvSpPr>
        <p:spPr>
          <a:xfrm>
            <a:off x="6355080" y="4480560"/>
            <a:ext cx="64008" cy="822960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8" name="Text 46"/>
          <p:cNvSpPr/>
          <p:nvPr/>
        </p:nvSpPr>
        <p:spPr>
          <a:xfrm>
            <a:off x="6556248" y="448056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7406640" y="4599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7406640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pipeline goes next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55080" y="5431536"/>
            <a:ext cx="528523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2" name="Shape 50"/>
          <p:cNvSpPr/>
          <p:nvPr/>
        </p:nvSpPr>
        <p:spPr>
          <a:xfrm>
            <a:off x="6355080" y="5431536"/>
            <a:ext cx="64008" cy="82296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3" name="Text 51"/>
          <p:cNvSpPr/>
          <p:nvPr/>
        </p:nvSpPr>
        <p:spPr>
          <a:xfrm>
            <a:off x="6556248" y="5431536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7406640" y="55504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Recommendations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7406640" y="58613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maintenance triage + Q&amp;A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CONTEXT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Problem &amp; Objectives</a:t>
            </a:r>
            <a:endParaRPr lang="en-US" sz="2700" dirty="0"/>
          </a:p>
        </p:txBody>
      </p:sp>
      <p:pic>
        <p:nvPicPr>
          <p:cNvPr id="6" name="Image 0" descr="Machine spindle with IoT sensor health dashboard overlay"/>
          <p:cNvPicPr>
            <a:picLocks noChangeAspect="1"/>
          </p:cNvPicPr>
          <p:nvPr/>
        </p:nvPicPr>
        <p:blipFill>
          <a:blip r:embed="rId3"/>
          <a:srcRect l="22816" r="22816"/>
          <a:stretch/>
        </p:blipFill>
        <p:spPr>
          <a:xfrm>
            <a:off x="7818120" y="1600200"/>
            <a:ext cx="384048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18120" y="1600200"/>
            <a:ext cx="3840480" cy="4709160"/>
          </a:xfrm>
          <a:prstGeom prst="rect">
            <a:avLst/>
          </a:prstGeom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/>
          <p:nvPr/>
        </p:nvSpPr>
        <p:spPr>
          <a:xfrm>
            <a:off x="566928" y="1627632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equipment failure is costly, unsafe, and hard to predict. Reactive repair is expensive; fixed schedules waste useful tool life. Labels for failure are scarce — so we let the data reveal its own operating regimes.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" y="2834640"/>
            <a:ext cx="22128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Shape 7"/>
          <p:cNvSpPr/>
          <p:nvPr/>
        </p:nvSpPr>
        <p:spPr>
          <a:xfrm>
            <a:off x="566928" y="2834640"/>
            <a:ext cx="2212848" cy="64008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704088" y="29626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$50B+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04088" y="35112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 cost of unplanned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downtime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80944" y="2834640"/>
            <a:ext cx="22128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2980944" y="2834640"/>
            <a:ext cx="2212848" cy="6400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2"/>
          <p:cNvSpPr/>
          <p:nvPr/>
        </p:nvSpPr>
        <p:spPr>
          <a:xfrm>
            <a:off x="3118104" y="29626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3.4%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3118104" y="35112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machine failure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 the dataset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394960" y="2834640"/>
            <a:ext cx="221284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8" name="Shape 15"/>
          <p:cNvSpPr/>
          <p:nvPr/>
        </p:nvSpPr>
        <p:spPr>
          <a:xfrm>
            <a:off x="5394960" y="2834640"/>
            <a:ext cx="2212848" cy="64008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6"/>
          <p:cNvSpPr/>
          <p:nvPr/>
        </p:nvSpPr>
        <p:spPr>
          <a:xfrm>
            <a:off x="5532120" y="2962656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5532120" y="35112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labels used —</a:t>
            </a:r>
            <a:endParaRPr lang="en-US" sz="10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unsupervised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43159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03504" y="466344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machines into distinct operating regimes with unsupervised clustering</a:t>
            </a:r>
            <a:endParaRPr lang="en-US" sz="13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failure-prone conditions to prioritize inspection and spare parts</a:t>
            </a:r>
            <a:endParaRPr lang="en-US" sz="13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35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interpretable, bias-audited insight that planners can act 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FOUNDATION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2377440" cy="914400"/>
          </a:xfrm>
          <a:prstGeom prst="rect">
            <a:avLst/>
          </a:prstGeom>
          <a:solidFill>
            <a:srgbClr val="0E1E33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66928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(rows)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90672" y="1627632"/>
            <a:ext cx="2377440" cy="914400"/>
          </a:xfrm>
          <a:prstGeom prst="rect">
            <a:avLst/>
          </a:prstGeom>
          <a:solidFill>
            <a:srgbClr val="0E1E33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3090672" y="1700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90672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14416" y="1627632"/>
            <a:ext cx="2377440" cy="914400"/>
          </a:xfrm>
          <a:prstGeom prst="rect">
            <a:avLst/>
          </a:prstGeom>
          <a:solidFill>
            <a:srgbClr val="0E1E33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5614416" y="17007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614416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signals modeled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27632"/>
            <a:ext cx="3520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8284464" y="170078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 </a:t>
            </a:r>
            <a:r>
              <a:rPr lang="en-US" sz="120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TWF · HDF · PWF · OSF · RNF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84464" y="2103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Tool, heat, power, overstrain &amp; random failures — held out from training.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9" name="Shape 17"/>
          <p:cNvSpPr/>
          <p:nvPr/>
        </p:nvSpPr>
        <p:spPr>
          <a:xfrm>
            <a:off x="566928" y="2788920"/>
            <a:ext cx="3520440" cy="82296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0" name="Text 18"/>
          <p:cNvSpPr/>
          <p:nvPr/>
        </p:nvSpPr>
        <p:spPr>
          <a:xfrm>
            <a:off x="749808" y="29718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 Temperature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49808" y="33192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300 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9808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Ambient, low variance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278892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4297680" y="2788920"/>
            <a:ext cx="3520440" cy="82296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4480560" y="29718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Temperature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480560" y="33192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310 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80560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air temp + load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28432" y="2788920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8028432" y="2788920"/>
            <a:ext cx="3520440" cy="82296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8211312" y="29718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Rotational Speed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211312" y="33192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1,538 rpm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11312" y="37581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spread, right-skewed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4361688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4" name="Shape 32"/>
          <p:cNvSpPr/>
          <p:nvPr/>
        </p:nvSpPr>
        <p:spPr>
          <a:xfrm>
            <a:off x="566928" y="4361688"/>
            <a:ext cx="3520440" cy="8229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749808" y="4544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Torque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49808" y="4892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7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40 Nm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49808" y="533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Near-normal, key driver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97680" y="4361688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9" name="Shape 37"/>
          <p:cNvSpPr/>
          <p:nvPr/>
        </p:nvSpPr>
        <p:spPr>
          <a:xfrm>
            <a:off x="4297680" y="4361688"/>
            <a:ext cx="3520440" cy="82296"/>
          </a:xfrm>
          <a:prstGeom prst="rect">
            <a:avLst/>
          </a:prstGeom>
          <a:solidFill>
            <a:srgbClr val="6FA0C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0" name="Text 38"/>
          <p:cNvSpPr/>
          <p:nvPr/>
        </p:nvSpPr>
        <p:spPr>
          <a:xfrm>
            <a:off x="4480560" y="4544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 Wear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4480560" y="4892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A0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– 253 min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480560" y="533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accumulation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28432" y="4361688"/>
            <a:ext cx="3520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4" name="Shape 42"/>
          <p:cNvSpPr/>
          <p:nvPr/>
        </p:nvSpPr>
        <p:spPr>
          <a:xfrm>
            <a:off x="8028432" y="4361688"/>
            <a:ext cx="3520440" cy="82296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5" name="Text 43"/>
          <p:cNvSpPr/>
          <p:nvPr/>
        </p:nvSpPr>
        <p:spPr>
          <a:xfrm>
            <a:off x="8211312" y="4544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Type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211312" y="48920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 / M / H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211312" y="533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/ 30% / 20% split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&amp; Feature Engineering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A0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21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&amp; Validate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43230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3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IDs, check nulls, de-duplicate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633472" y="1645920"/>
            <a:ext cx="274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907792" y="1645920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3072384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A0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072384" y="2121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72384" y="243230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3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scale all sensors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4974336" y="1645920"/>
            <a:ext cx="274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248656" y="1645920"/>
            <a:ext cx="2084832" cy="1234440"/>
          </a:xfrm>
          <a:prstGeom prst="rect">
            <a:avLst/>
          </a:prstGeom>
          <a:solidFill>
            <a:srgbClr val="0E1E33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5413248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13248" y="2121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13248" y="243230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30" dirty="0">
                <a:solidFill>
                  <a:srgbClr val="CA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temp_diff &amp; power_proxy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7315200" y="1645920"/>
            <a:ext cx="274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589520" y="1645920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7754112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A0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754112" y="2121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54112" y="243230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3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t-SNE for structure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9656064" y="1645920"/>
            <a:ext cx="274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930384" y="1645920"/>
            <a:ext cx="20848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10094976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A0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94976" y="2121408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094976" y="243230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3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score candidate models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566928" y="3154680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features that encode physical stress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6928" y="3611880"/>
            <a:ext cx="54864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566928" y="3611880"/>
            <a:ext cx="82296" cy="24688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Text 31"/>
          <p:cNvSpPr/>
          <p:nvPr/>
        </p:nvSpPr>
        <p:spPr>
          <a:xfrm>
            <a:off x="868680" y="37947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load  ·  temp_diff</a:t>
            </a:r>
            <a:endParaRPr lang="en-US" sz="1450" dirty="0"/>
          </a:p>
        </p:txBody>
      </p:sp>
      <p:pic>
        <p:nvPicPr>
          <p:cNvPr id="34" name="Image 0" descr="temp_diff equals process temperature minus air tempera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13768"/>
            <a:ext cx="4480560" cy="516465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68680" y="51206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process and ambient temperature — a direct proxy for the heat a machine is absorbing under load.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199632" y="3611880"/>
            <a:ext cx="5440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7" name="Shape 34"/>
          <p:cNvSpPr/>
          <p:nvPr/>
        </p:nvSpPr>
        <p:spPr>
          <a:xfrm>
            <a:off x="6199632" y="3611880"/>
            <a:ext cx="82296" cy="2468880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8" name="Text 35"/>
          <p:cNvSpPr/>
          <p:nvPr/>
        </p:nvSpPr>
        <p:spPr>
          <a:xfrm>
            <a:off x="6492240" y="37947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Mechanical power  ·  power_proxy</a:t>
            </a:r>
            <a:endParaRPr lang="en-US" sz="1450" dirty="0"/>
          </a:p>
        </p:txBody>
      </p:sp>
      <p:pic>
        <p:nvPicPr>
          <p:cNvPr id="39" name="Image 1" descr="power_proxy equals torque times angular spe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249550"/>
            <a:ext cx="4846320" cy="690621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492240" y="5166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× angular speed approximates instantaneous shaft power — the single strongest separator of operating regimes.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ANALYSIS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&amp; Clustering Tendency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4864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7" name="Image 0" descr="Correlation heatmap of engineered sensor featur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09411"/>
            <a:ext cx="5157216" cy="429073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2784" y="1645920"/>
            <a:ext cx="5367528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1" descr="Box plots of standardized sensor featu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114" y="1755648"/>
            <a:ext cx="4540013" cy="2560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72784" y="4617720"/>
            <a:ext cx="2587752" cy="1645920"/>
          </a:xfrm>
          <a:prstGeom prst="rect">
            <a:avLst/>
          </a:prstGeom>
          <a:solidFill>
            <a:srgbClr val="0E1E33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Text 7"/>
          <p:cNvSpPr/>
          <p:nvPr/>
        </p:nvSpPr>
        <p:spPr>
          <a:xfrm>
            <a:off x="6455664" y="47731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HOPKINS STATISTIC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455664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 = 0.91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6455664" y="5623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≫ 0.75 → strong, non-random clustering tendency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052560" y="4617720"/>
            <a:ext cx="258775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Text 11"/>
          <p:cNvSpPr/>
          <p:nvPr/>
        </p:nvSpPr>
        <p:spPr>
          <a:xfrm>
            <a:off x="9217152" y="4754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9235440" y="5029200"/>
            <a:ext cx="23957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power_proxy dominates variance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temp_diff stable near 10 K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&amp; speed weakly correlated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MODELING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Clustering Algorithms &amp; Tuning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36393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3639312" cy="640080"/>
          </a:xfrm>
          <a:prstGeom prst="rect">
            <a:avLst/>
          </a:prstGeom>
          <a:solidFill>
            <a:srgbClr val="0E1E3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Shape 6"/>
          <p:cNvSpPr/>
          <p:nvPr/>
        </p:nvSpPr>
        <p:spPr>
          <a:xfrm>
            <a:off x="566928" y="1645920"/>
            <a:ext cx="82296" cy="3246120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822960" y="170078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204825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PARTITIONAL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3136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within-cluster inertia around k centroids. Fast and scalable, but assumes convex blobs and is sensitive to feature scaling and outliers — hence the z-score step.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3127248" cy="603504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950976" y="416052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3E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Elbow + Silhouette sweep → k =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645920"/>
            <a:ext cx="36393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4389120" y="1645920"/>
            <a:ext cx="3639312" cy="640080"/>
          </a:xfrm>
          <a:prstGeom prst="rect">
            <a:avLst/>
          </a:prstGeom>
          <a:solidFill>
            <a:srgbClr val="0E1E3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389120" y="1645920"/>
            <a:ext cx="82296" cy="32461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4645152" y="170078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DBSCAN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45152" y="204825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DENSITY-BASED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5152" y="2468880"/>
            <a:ext cx="3136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dense regions and flags sparse points as noise, so it finds arbitrary shapes with no preset k. Robust to outliers, but strains under widely varying density.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45152" y="4160520"/>
            <a:ext cx="3127248" cy="603504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4773168" y="416052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3E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k-distance graph → ε, minPts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11312" y="1645920"/>
            <a:ext cx="363931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8211312" y="1645920"/>
            <a:ext cx="3639312" cy="640080"/>
          </a:xfrm>
          <a:prstGeom prst="rect">
            <a:avLst/>
          </a:prstGeom>
          <a:solidFill>
            <a:srgbClr val="0E1E3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8211312" y="1645920"/>
            <a:ext cx="82296" cy="3246120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8467344" y="1700784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467344" y="2048256"/>
            <a:ext cx="3273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2C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AGGLOMERATIVE (WARD)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67344" y="2468880"/>
            <a:ext cx="3136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nearest clusters bottom-up into a dendrogram, needing no k upfront and exposing nested structure. Ward linkage minimizes variance at each merge.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67344" y="4160520"/>
            <a:ext cx="3127248" cy="603504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9" name="Text 27"/>
          <p:cNvSpPr/>
          <p:nvPr/>
        </p:nvSpPr>
        <p:spPr>
          <a:xfrm>
            <a:off x="8595360" y="4160520"/>
            <a:ext cx="2907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i="1" dirty="0">
                <a:solidFill>
                  <a:srgbClr val="3E6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dendrogram cut + cophenetic corr.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" y="5138928"/>
            <a:ext cx="11073384" cy="1051560"/>
          </a:xfrm>
          <a:prstGeom prst="rect">
            <a:avLst/>
          </a:prstGeom>
          <a:solidFill>
            <a:srgbClr val="13294B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777240" y="52669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validation metrics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77240" y="5596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 </a:t>
            </a:r>
            <a:r>
              <a:rPr lang="en-US" sz="120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cohesion vs separation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34840" y="5596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Davies–Bouldin  </a:t>
            </a:r>
            <a:r>
              <a:rPr lang="en-US" sz="120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intra/inter ratio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92440" y="5596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Calinski–Harabasz  </a:t>
            </a:r>
            <a:r>
              <a:rPr lang="en-US" sz="120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variance ratio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Model Comparison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989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7" name="Image 0" descr="Bar chart comparing silhouette and Davies-Bouldin across algorith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47847"/>
            <a:ext cx="5715000" cy="329946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66560" y="1645920"/>
            <a:ext cx="48737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1" descr="Silhouette score versus number of clusters showing peak at k=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481" y="1737360"/>
            <a:ext cx="3750197" cy="2286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6560" y="4261104"/>
            <a:ext cx="4873752" cy="2002536"/>
          </a:xfrm>
          <a:prstGeom prst="rect">
            <a:avLst/>
          </a:prstGeom>
          <a:solidFill>
            <a:srgbClr val="0E1E33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Shape 7"/>
          <p:cNvSpPr/>
          <p:nvPr/>
        </p:nvSpPr>
        <p:spPr>
          <a:xfrm>
            <a:off x="6766560" y="4261104"/>
            <a:ext cx="4873752" cy="82296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8"/>
          <p:cNvSpPr/>
          <p:nvPr/>
        </p:nvSpPr>
        <p:spPr>
          <a:xfrm>
            <a:off x="6967728" y="4407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CHAMPION MODEL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967728" y="464515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K-Means · k = 4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6967728" y="5138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967728" y="5504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8540496" y="5138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0.86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8540496" y="5504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Davies–Bouldin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0113264" y="5138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6,150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10113264" y="5504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Calinski–H.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67728" y="58155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balanced clusters (≈ 2,450–2,580 members each).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66928" y="54406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Davies–Bouldin and higher silhouette both favor K-Means over Hierarchical and DBSCAN.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Cluster Interpretation &amp; Explainability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5778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7" name="Image 0" descr="t-SNE projection showing four separated clust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94788"/>
            <a:ext cx="5285232" cy="41199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1645920"/>
            <a:ext cx="52852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9" name="Image 1" descr="Bar chart of machine failure rate by clus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261" y="1737360"/>
            <a:ext cx="3780870" cy="2148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55080" y="4114800"/>
            <a:ext cx="52852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Shape 7"/>
          <p:cNvSpPr/>
          <p:nvPr/>
        </p:nvSpPr>
        <p:spPr>
          <a:xfrm>
            <a:off x="6355080" y="4114800"/>
            <a:ext cx="566928" cy="475488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8"/>
          <p:cNvSpPr/>
          <p:nvPr/>
        </p:nvSpPr>
        <p:spPr>
          <a:xfrm>
            <a:off x="6355080" y="411480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C0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40880" y="41148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Low-load 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 torque &amp; speed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149840" y="41148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0.9% fail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355080" y="4663440"/>
            <a:ext cx="52852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6" name="Shape 12"/>
          <p:cNvSpPr/>
          <p:nvPr/>
        </p:nvSpPr>
        <p:spPr>
          <a:xfrm>
            <a:off x="6355080" y="4663440"/>
            <a:ext cx="566928" cy="475488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3"/>
          <p:cNvSpPr/>
          <p:nvPr/>
        </p:nvSpPr>
        <p:spPr>
          <a:xfrm>
            <a:off x="6355080" y="466344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C1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040880" y="4663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Mid-range operation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149840" y="46634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2.1% fail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355080" y="5212080"/>
            <a:ext cx="52852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Shape 17"/>
          <p:cNvSpPr/>
          <p:nvPr/>
        </p:nvSpPr>
        <p:spPr>
          <a:xfrm>
            <a:off x="6355080" y="5212080"/>
            <a:ext cx="566928" cy="47548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18"/>
          <p:cNvSpPr/>
          <p:nvPr/>
        </p:nvSpPr>
        <p:spPr>
          <a:xfrm>
            <a:off x="6355080" y="521208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C2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040880" y="5212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 rpm, low torque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149840" y="521208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C7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3.6% fail</a:t>
            </a:r>
            <a:endParaRPr lang="en-US" sz="1450" dirty="0"/>
          </a:p>
        </p:txBody>
      </p:sp>
      <p:sp>
        <p:nvSpPr>
          <p:cNvPr id="25" name="Shape 21"/>
          <p:cNvSpPr/>
          <p:nvPr/>
        </p:nvSpPr>
        <p:spPr>
          <a:xfrm>
            <a:off x="6355080" y="5760720"/>
            <a:ext cx="528523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Shape 22"/>
          <p:cNvSpPr/>
          <p:nvPr/>
        </p:nvSpPr>
        <p:spPr>
          <a:xfrm>
            <a:off x="6355080" y="5760720"/>
            <a:ext cx="566928" cy="475488"/>
          </a:xfrm>
          <a:prstGeom prst="rect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23"/>
          <p:cNvSpPr/>
          <p:nvPr/>
        </p:nvSpPr>
        <p:spPr>
          <a:xfrm>
            <a:off x="6355080" y="576072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2A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C3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7040880" y="57607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High-torque  </a:t>
            </a:r>
            <a:r>
              <a:rPr lang="en-US" sz="12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High torque + tool wear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10149840" y="57607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50" b="1" dirty="0">
                <a:solidFill>
                  <a:srgbClr val="C77F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8.4% fail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 AI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Bias &amp; Fairness Audit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1264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7" name="Image 0" descr="Stacked bar chart of cluster composition across machine types L, M, 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62829"/>
            <a:ext cx="5852160" cy="31839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691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Question: does any operating regime disproportionately capture one machine grade?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49440" y="24231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cluster is represented across Type L, M and H — no regime is monopolized by a single grade</a:t>
            </a:r>
            <a:endParaRPr lang="en-US" sz="1300" dirty="0"/>
          </a:p>
          <a:p>
            <a:pPr marL="342900" indent="-342900">
              <a:lnSpc>
                <a:spcPct val="103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Failure-rate disparity across types stays ≤ 1.4 pp — within fairness tolerance</a:t>
            </a:r>
            <a:endParaRPr lang="en-US" sz="1300" dirty="0"/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300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High-torque C3 slightly over-indexes Type H (19% vs 14%) — flagged for monitoring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03720" y="4434840"/>
            <a:ext cx="2286000" cy="1463040"/>
          </a:xfrm>
          <a:prstGeom prst="rect">
            <a:avLst/>
          </a:prstGeom>
          <a:solidFill>
            <a:srgbClr val="0E1E33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Shape 8"/>
          <p:cNvSpPr/>
          <p:nvPr/>
        </p:nvSpPr>
        <p:spPr>
          <a:xfrm>
            <a:off x="6903720" y="4434840"/>
            <a:ext cx="2286000" cy="73152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7050024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kern="0" spc="50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DEMOGRAPHIC PARITY Δ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50024" y="5093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0.06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050024" y="55686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354312" y="4434840"/>
            <a:ext cx="2286000" cy="1463040"/>
          </a:xfrm>
          <a:prstGeom prst="rect">
            <a:avLst/>
          </a:prstGeom>
          <a:solidFill>
            <a:srgbClr val="0E1E33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Shape 13"/>
          <p:cNvSpPr/>
          <p:nvPr/>
        </p:nvSpPr>
        <p:spPr>
          <a:xfrm>
            <a:off x="9354312" y="4434840"/>
            <a:ext cx="2286000" cy="73152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Text 14"/>
          <p:cNvSpPr/>
          <p:nvPr/>
        </p:nvSpPr>
        <p:spPr>
          <a:xfrm>
            <a:off x="9500616" y="4617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b="1" kern="0" spc="50" dirty="0">
                <a:solidFill>
                  <a:srgbClr val="8CA3B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DISPARATE IMPACT RATIO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500616" y="50932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0.87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9500616" y="55686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0E1E33"/>
          </a:solidFill>
          <a:ln/>
          <a:effectLst>
            <a:outerShdw blurRad="114300" dist="38100" dir="8100000" algn="bl" rotWithShape="0">
              <a:srgbClr val="0B1727">
                <a:alpha val="16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E6F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REFLECTION</a:t>
            </a:r>
            <a:endParaRPr lang="en-US" sz="115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1371600" y="603504"/>
            <a:ext cx="10241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429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Work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4864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Shape 5"/>
          <p:cNvSpPr/>
          <p:nvPr/>
        </p:nvSpPr>
        <p:spPr>
          <a:xfrm>
            <a:off x="566928" y="1645920"/>
            <a:ext cx="5486400" cy="658368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8" name="Text 6"/>
          <p:cNvSpPr/>
          <p:nvPr/>
        </p:nvSpPr>
        <p:spPr>
          <a:xfrm>
            <a:off x="822960" y="17007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41248" y="2873502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1170432" y="2560320"/>
            <a:ext cx="461772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snapshot.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or streaming drift is modeled across sensor readings.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406140"/>
            <a:ext cx="493776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841248" y="3774186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1170432" y="3461004"/>
            <a:ext cx="461772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realism.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Synthetic-style data may under-represent rare failure physics.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4306824"/>
            <a:ext cx="493776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Shape 13"/>
          <p:cNvSpPr/>
          <p:nvPr/>
        </p:nvSpPr>
        <p:spPr>
          <a:xfrm>
            <a:off x="841248" y="4674870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Text 14"/>
          <p:cNvSpPr/>
          <p:nvPr/>
        </p:nvSpPr>
        <p:spPr>
          <a:xfrm>
            <a:off x="1170432" y="4361688"/>
            <a:ext cx="461772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Descriptive, not causal.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name operating regimes but do not explain root cause.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5207508"/>
            <a:ext cx="493776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841248" y="5575554"/>
            <a:ext cx="164592" cy="164592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1170432" y="5262372"/>
            <a:ext cx="461772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Viz-only projection.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distances are non-metric — used for display, not modeling.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53912" y="1645920"/>
            <a:ext cx="54864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101600" dist="25400" dir="8100000" algn="bl" rotWithShape="0">
              <a:srgbClr val="0B1727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1" name="Shape 19"/>
          <p:cNvSpPr/>
          <p:nvPr/>
        </p:nvSpPr>
        <p:spPr>
          <a:xfrm>
            <a:off x="6153912" y="1645920"/>
            <a:ext cx="5486400" cy="658368"/>
          </a:xfrm>
          <a:prstGeom prst="rect">
            <a:avLst/>
          </a:prstGeom>
          <a:solidFill>
            <a:srgbClr val="3E6FA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20"/>
          <p:cNvSpPr/>
          <p:nvPr/>
        </p:nvSpPr>
        <p:spPr>
          <a:xfrm>
            <a:off x="6409944" y="17007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428232" y="2873502"/>
            <a:ext cx="164592" cy="164592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6757416" y="2560320"/>
            <a:ext cx="461772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clustering.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incremental models that update on live sensor streams.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28232" y="3406140"/>
            <a:ext cx="493776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Shape 24"/>
          <p:cNvSpPr/>
          <p:nvPr/>
        </p:nvSpPr>
        <p:spPr>
          <a:xfrm>
            <a:off x="6428232" y="3774186"/>
            <a:ext cx="164592" cy="164592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7" name="Text 25"/>
          <p:cNvSpPr/>
          <p:nvPr/>
        </p:nvSpPr>
        <p:spPr>
          <a:xfrm>
            <a:off x="6757416" y="3461004"/>
            <a:ext cx="461772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 fusion.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cluster structure with failure labels (TWF / HDF / PWF).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28232" y="4306824"/>
            <a:ext cx="493776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9" name="Shape 27"/>
          <p:cNvSpPr/>
          <p:nvPr/>
        </p:nvSpPr>
        <p:spPr>
          <a:xfrm>
            <a:off x="6428232" y="4674870"/>
            <a:ext cx="164592" cy="164592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Text 28"/>
          <p:cNvSpPr/>
          <p:nvPr/>
        </p:nvSpPr>
        <p:spPr>
          <a:xfrm>
            <a:off x="6757416" y="4361688"/>
            <a:ext cx="461772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CMMS deployment.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high-risk regimes as early-warning triage to planners.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28232" y="5207508"/>
            <a:ext cx="4937760" cy="0"/>
          </a:xfrm>
          <a:prstGeom prst="line">
            <a:avLst/>
          </a:prstGeom>
          <a:noFill/>
          <a:ln w="12700">
            <a:solidFill>
              <a:srgbClr val="DCE6F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Shape 30"/>
          <p:cNvSpPr/>
          <p:nvPr/>
        </p:nvSpPr>
        <p:spPr>
          <a:xfrm>
            <a:off x="6428232" y="5575554"/>
            <a:ext cx="164592" cy="164592"/>
          </a:xfrm>
          <a:prstGeom prst="rect">
            <a:avLst/>
          </a:prstGeom>
          <a:solidFill>
            <a:srgbClr val="22C3B8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Text 31"/>
          <p:cNvSpPr/>
          <p:nvPr/>
        </p:nvSpPr>
        <p:spPr>
          <a:xfrm>
            <a:off x="6757416" y="5262372"/>
            <a:ext cx="4617720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14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Explainability. </a:t>
            </a:r>
            <a:r>
              <a:rPr lang="en-US" sz="130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SHAP-style attribution on each cluster assignment for trust.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" name="Shape 2"/>
          <p:cNvSpPr/>
          <p:nvPr/>
        </p:nvSpPr>
        <p:spPr>
          <a:xfrm>
            <a:off x="777240" y="868680"/>
            <a:ext cx="146304" cy="14630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1024128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RECOMMENDATIONS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fair, interpretable</a:t>
            </a:r>
            <a:endParaRPr lang="en-US" sz="2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maintenance triage —</a:t>
            </a:r>
            <a:endParaRPr lang="en-US" sz="2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a single label.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A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 = 4) turns raw telemetry into four actionable operating regimes and a ranked failure-risk order.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623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74920" y="960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74920" y="152704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50749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23560" y="15087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 the high-torque regime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23560" y="1837944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C3 carries an 8.4% failure rate — target it first for inspection and spare-parts staging.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74920" y="27340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507492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23560" y="27157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 K-Means (k=4) as the triage baseline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23560" y="304495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silhouette (0.42) and Davies–Bouldin (0.86); balanced, explainable segments.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39410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507492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23560" y="392277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Type H over-indexing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623560" y="4251960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Re-audit fairness quarterly; disparate-impact ratio 0.87 currently passes.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74920" y="514807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507492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1E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23560" y="512978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Operationalize inside the CMMS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23560" y="5458968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8C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new readings in real time and route high-risk regimes to planners.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74920" y="63550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technical review  ·  AI4I 2020 Predictive Maintenance  · 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1107</Words>
  <Application>Microsoft Office PowerPoint</Application>
  <PresentationFormat>Widescreen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Agenda</vt:lpstr>
      <vt:lpstr>Business Problem &amp; Objectives</vt:lpstr>
      <vt:lpstr>Dataset Overview</vt:lpstr>
      <vt:lpstr>Preprocessing &amp; Feature Engineering</vt:lpstr>
      <vt:lpstr>EDA &amp; Clustering Tendency</vt:lpstr>
      <vt:lpstr>Clustering Algorithms &amp; Tuning</vt:lpstr>
      <vt:lpstr>Results &amp; Model Comparison</vt:lpstr>
      <vt:lpstr>Cluster Interpretation &amp; Explainability</vt:lpstr>
      <vt:lpstr>Bias &amp; Fairness Audit</vt:lpstr>
      <vt:lpstr>Limitations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Lopez</dc:creator>
  <cp:lastModifiedBy>Christopher Lopez</cp:lastModifiedBy>
  <cp:revision>1</cp:revision>
  <dcterms:created xsi:type="dcterms:W3CDTF">2026-07-04T07:14:23Z</dcterms:created>
  <dcterms:modified xsi:type="dcterms:W3CDTF">2026-07-04T07:42:07Z</dcterms:modified>
</cp:coreProperties>
</file>